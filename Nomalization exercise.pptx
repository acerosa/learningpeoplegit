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45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4CA08B7-4716-4E27-A721-D79C91A21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6140785"/>
            <a:ext cx="4571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4714483-7072-431F-9DBE-87F44E4D4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5892E1-F4A5-4991-AC52-4F417B14A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34042933-0A94-4AA9-97E0-FB2288C19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75420"/>
            <a:ext cx="9036544" cy="4093306"/>
            <a:chOff x="1" y="2075420"/>
            <a:chExt cx="12048729" cy="4093306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74F2B00-CCCF-4809-9060-BF27174FD2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33E2DBD-A7A5-4BF5-A992-DBD2E0622C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D1254DFF-E2E0-49A3-8171-E187F39D6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5BF8AC9-10AA-4E6A-A51E-BC3868E020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E0B2B43-CFE1-4B34-9AFC-7AA57060E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592F43BB-4B6D-4E46-8A9F-00DC68069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17BC89B9-A6CD-482B-9352-638D0E05A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135681" y="104935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6AC76424-A118-B329-DBA4-24F82CA2F7A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bg1">
                <a:tint val="45000"/>
                <a:satMod val="400000"/>
              </a:schemeClr>
            </a:duotone>
            <a:alphaModFix amt="25000"/>
          </a:blip>
          <a:srcRect l="1559" r="1" b="1"/>
          <a:stretch>
            <a:fillRect/>
          </a:stretch>
        </p:blipFill>
        <p:spPr>
          <a:xfrm>
            <a:off x="561765" y="-2704"/>
            <a:ext cx="8048795" cy="613221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63629" y="630936"/>
            <a:ext cx="5486400" cy="2702018"/>
          </a:xfrm>
          <a:noFill/>
        </p:spPr>
        <p:txBody>
          <a:bodyPr anchor="b">
            <a:normAutofit/>
          </a:bodyPr>
          <a:lstStyle/>
          <a:p>
            <a:r>
              <a:rPr lang="en-GB" sz="4200">
                <a:solidFill>
                  <a:schemeClr val="bg1"/>
                </a:solidFill>
              </a:rPr>
              <a:t>Database Normalisation (1NF → 3NF)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63630" y="3427487"/>
            <a:ext cx="5486400" cy="2702020"/>
          </a:xfrm>
          <a:noFill/>
        </p:spPr>
        <p:txBody>
          <a:bodyPr anchor="t">
            <a:normAutofit/>
          </a:bodyPr>
          <a:lstStyle/>
          <a:p>
            <a:r>
              <a:rPr lang="en-GB">
                <a:solidFill>
                  <a:schemeClr val="bg1"/>
                </a:solidFill>
              </a:rPr>
              <a:t>Visual Tables + Worked Examples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683E3F-F855-4549-84F8-42064EC0F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479052" y="1131512"/>
            <a:ext cx="2796461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FC90B1E-0223-4440-AF22-8F32F6F0C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444654" y="317578"/>
            <a:ext cx="411480" cy="549007"/>
            <a:chOff x="7029447" y="3514725"/>
            <a:chExt cx="1285875" cy="549007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2D2E879-0004-4D84-8137-1C09334038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3BE75A2-0D83-4F8E-84CC-D3BCD565B1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E90F7F49-1039-49EF-A9BD-153DB590B6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E85F508-9EA4-4B4D-8171-648670650E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1CE155D-684B-4F5E-B835-C52765E310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645785" y="5940560"/>
            <a:ext cx="1285875" cy="549007"/>
            <a:chOff x="7029447" y="3514725"/>
            <a:chExt cx="1285875" cy="549007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4F84AF8-E1A7-41D4-A102-8F87CAE37E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ED126F1-DB23-4314-B6C7-FE89E3C581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ACB2B6F-8883-4A00-88DD-98CDDD46B8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B9A2180-808A-4423-BB2B-6464B2900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1" y="891652"/>
            <a:ext cx="3309016" cy="30307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Students &amp; Courses - Denormalised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571960"/>
              </p:ext>
            </p:extLst>
          </p:nvPr>
        </p:nvGraphicFramePr>
        <p:xfrm>
          <a:off x="4572000" y="1524712"/>
          <a:ext cx="4206241" cy="3764127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  <a:tableStyleId>{5C22544A-7EE6-4342-B048-85BDC9FD1C3A}</a:tableStyleId>
              </a:tblPr>
              <a:tblGrid>
                <a:gridCol w="20494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68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44357">
                <a:tc>
                  <a:txBody>
                    <a:bodyPr/>
                    <a:lstStyle/>
                    <a:p>
                      <a:r>
                        <a:rPr lang="en-GB" sz="3100" b="0" cap="none" spc="0">
                          <a:solidFill>
                            <a:schemeClr val="bg1"/>
                          </a:solidFill>
                        </a:rPr>
                        <a:t>Student</a:t>
                      </a:r>
                    </a:p>
                  </a:txBody>
                  <a:tcPr marL="259366" marR="199512" marT="199512" marB="19951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3100" b="0" cap="none" spc="0">
                          <a:solidFill>
                            <a:schemeClr val="bg1"/>
                          </a:solidFill>
                        </a:rPr>
                        <a:t>Courses</a:t>
                      </a:r>
                    </a:p>
                  </a:txBody>
                  <a:tcPr marL="259366" marR="199512" marT="199512" marB="199512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9885">
                <a:tc>
                  <a:txBody>
                    <a:bodyPr/>
                    <a:lstStyle/>
                    <a:p>
                      <a:r>
                        <a:rPr lang="en-GB" sz="3100" cap="none" spc="0">
                          <a:solidFill>
                            <a:schemeClr val="tx1"/>
                          </a:solidFill>
                        </a:rPr>
                        <a:t>John</a:t>
                      </a:r>
                    </a:p>
                  </a:txBody>
                  <a:tcPr marL="259366" marR="199512" marT="199512" marB="199512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3100" cap="none" spc="0">
                          <a:solidFill>
                            <a:schemeClr val="tx1"/>
                          </a:solidFill>
                        </a:rPr>
                        <a:t>Math, Science</a:t>
                      </a:r>
                    </a:p>
                  </a:txBody>
                  <a:tcPr marL="259366" marR="199512" marT="199512" marB="199512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9885">
                <a:tc>
                  <a:txBody>
                    <a:bodyPr/>
                    <a:lstStyle/>
                    <a:p>
                      <a:r>
                        <a:rPr lang="en-GB" sz="3100" cap="none" spc="0">
                          <a:solidFill>
                            <a:schemeClr val="tx1"/>
                          </a:solidFill>
                        </a:rPr>
                        <a:t>Amy</a:t>
                      </a:r>
                    </a:p>
                  </a:txBody>
                  <a:tcPr marL="259366" marR="199512" marT="199512" marB="199512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3100" cap="none" spc="0">
                          <a:solidFill>
                            <a:schemeClr val="tx1"/>
                          </a:solidFill>
                        </a:rPr>
                        <a:t>English, Math</a:t>
                      </a:r>
                    </a:p>
                  </a:txBody>
                  <a:tcPr marL="259366" marR="199512" marT="199512" marB="199512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1" y="891652"/>
            <a:ext cx="3309016" cy="30307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Students &amp; Courses - 1NF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127849"/>
              </p:ext>
            </p:extLst>
          </p:nvPr>
        </p:nvGraphicFramePr>
        <p:xfrm>
          <a:off x="4630843" y="1562735"/>
          <a:ext cx="4088554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0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7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r>
                        <a:rPr lang="en-GB" sz="3300"/>
                        <a:t>Student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GB" sz="3300"/>
                        <a:t>Course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GB" sz="3300"/>
                        <a:t>John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GB" sz="3300"/>
                        <a:t>Math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GB" sz="3300"/>
                        <a:t>John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GB" sz="3300"/>
                        <a:t>Science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GB" sz="3300"/>
                        <a:t>Amy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GB" sz="3300"/>
                        <a:t>English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r>
                        <a:rPr lang="en-GB" sz="3300"/>
                        <a:t>Amy</a:t>
                      </a:r>
                    </a:p>
                  </a:txBody>
                  <a:tcPr marL="167640" marR="167640" marT="83820" marB="83820"/>
                </a:tc>
                <a:tc>
                  <a:txBody>
                    <a:bodyPr/>
                    <a:lstStyle/>
                    <a:p>
                      <a:r>
                        <a:rPr lang="en-GB" sz="3300"/>
                        <a:t>Math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1" y="891652"/>
            <a:ext cx="3309016" cy="30307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Students &amp; Courses - 2NF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305964"/>
              </p:ext>
            </p:extLst>
          </p:nvPr>
        </p:nvGraphicFramePr>
        <p:xfrm>
          <a:off x="4572000" y="2572549"/>
          <a:ext cx="4206240" cy="166845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97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664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6151">
                <a:tc>
                  <a:txBody>
                    <a:bodyPr/>
                    <a:lstStyle/>
                    <a:p>
                      <a:r>
                        <a:rPr lang="en-GB" sz="2500"/>
                        <a:t>StudentID</a:t>
                      </a:r>
                    </a:p>
                  </a:txBody>
                  <a:tcPr marL="126398" marR="126398" marT="63199" marB="63199"/>
                </a:tc>
                <a:tc>
                  <a:txBody>
                    <a:bodyPr/>
                    <a:lstStyle/>
                    <a:p>
                      <a:r>
                        <a:rPr lang="en-GB" sz="2500"/>
                        <a:t>StudentName</a:t>
                      </a:r>
                    </a:p>
                  </a:txBody>
                  <a:tcPr marL="126398" marR="126398" marT="63199" marB="6319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6151">
                <a:tc>
                  <a:txBody>
                    <a:bodyPr/>
                    <a:lstStyle/>
                    <a:p>
                      <a:r>
                        <a:rPr lang="en-GB" sz="2500"/>
                        <a:t>1</a:t>
                      </a:r>
                    </a:p>
                  </a:txBody>
                  <a:tcPr marL="126398" marR="126398" marT="63199" marB="63199"/>
                </a:tc>
                <a:tc>
                  <a:txBody>
                    <a:bodyPr/>
                    <a:lstStyle/>
                    <a:p>
                      <a:r>
                        <a:rPr lang="en-GB" sz="2500"/>
                        <a:t>John</a:t>
                      </a:r>
                    </a:p>
                  </a:txBody>
                  <a:tcPr marL="126398" marR="126398" marT="63199" marB="6319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6151">
                <a:tc>
                  <a:txBody>
                    <a:bodyPr/>
                    <a:lstStyle/>
                    <a:p>
                      <a:r>
                        <a:rPr lang="en-GB" sz="2500"/>
                        <a:t>2</a:t>
                      </a:r>
                    </a:p>
                  </a:txBody>
                  <a:tcPr marL="126398" marR="126398" marT="63199" marB="63199"/>
                </a:tc>
                <a:tc>
                  <a:txBody>
                    <a:bodyPr/>
                    <a:lstStyle/>
                    <a:p>
                      <a:r>
                        <a:rPr lang="en-GB" sz="2500"/>
                        <a:t>Amy</a:t>
                      </a:r>
                    </a:p>
                  </a:txBody>
                  <a:tcPr marL="126398" marR="126398" marT="63199" marB="6319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1" y="891652"/>
            <a:ext cx="3309016" cy="30307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Students &amp; Courses - 2NF (Link Table)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4765282"/>
              </p:ext>
            </p:extLst>
          </p:nvPr>
        </p:nvGraphicFramePr>
        <p:xfrm>
          <a:off x="4572000" y="1459554"/>
          <a:ext cx="4206241" cy="3894446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3663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99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81882">
                <a:tc>
                  <a:txBody>
                    <a:bodyPr/>
                    <a:lstStyle/>
                    <a:p>
                      <a:r>
                        <a:rPr sz="3400" b="0" cap="none" spc="0">
                          <a:solidFill>
                            <a:schemeClr val="tx1"/>
                          </a:solidFill>
                        </a:rPr>
                        <a:t>StudentID</a:t>
                      </a:r>
                    </a:p>
                  </a:txBody>
                  <a:tcPr marL="96556" marR="96556" marT="96556" marB="19311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3400" b="0" cap="none" spc="0">
                          <a:solidFill>
                            <a:schemeClr val="tx1"/>
                          </a:solidFill>
                        </a:rPr>
                        <a:t>Course</a:t>
                      </a:r>
                    </a:p>
                  </a:txBody>
                  <a:tcPr marL="96556" marR="96556" marT="96556" marB="193113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3141">
                <a:tc>
                  <a:txBody>
                    <a:bodyPr/>
                    <a:lstStyle/>
                    <a:p>
                      <a:r>
                        <a:rPr sz="2500" cap="none" spc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6556" marR="96556" marT="96556" marB="1931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500" cap="none" spc="0">
                          <a:solidFill>
                            <a:schemeClr val="tx1"/>
                          </a:solidFill>
                        </a:rPr>
                        <a:t>Math</a:t>
                      </a:r>
                    </a:p>
                  </a:txBody>
                  <a:tcPr marL="96556" marR="96556" marT="96556" marB="1931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3141">
                <a:tc>
                  <a:txBody>
                    <a:bodyPr/>
                    <a:lstStyle/>
                    <a:p>
                      <a:r>
                        <a:rPr sz="2500" cap="none" spc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L="96556" marR="96556" marT="96556" marB="1931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00" cap="none" spc="0">
                          <a:solidFill>
                            <a:schemeClr val="tx1"/>
                          </a:solidFill>
                        </a:rPr>
                        <a:t>Science</a:t>
                      </a:r>
                    </a:p>
                  </a:txBody>
                  <a:tcPr marL="96556" marR="96556" marT="96556" marB="1931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3141">
                <a:tc>
                  <a:txBody>
                    <a:bodyPr/>
                    <a:lstStyle/>
                    <a:p>
                      <a:r>
                        <a:rPr sz="2500" cap="none" spc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6556" marR="96556" marT="96556" marB="1931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2500" cap="none" spc="0">
                          <a:solidFill>
                            <a:schemeClr val="tx1"/>
                          </a:solidFill>
                        </a:rPr>
                        <a:t>English</a:t>
                      </a:r>
                    </a:p>
                  </a:txBody>
                  <a:tcPr marL="96556" marR="96556" marT="96556" marB="1931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3141">
                <a:tc>
                  <a:txBody>
                    <a:bodyPr/>
                    <a:lstStyle/>
                    <a:p>
                      <a:r>
                        <a:rPr sz="2500" cap="none" spc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marL="96556" marR="96556" marT="96556" marB="1931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500" cap="none" spc="0">
                          <a:solidFill>
                            <a:schemeClr val="tx1"/>
                          </a:solidFill>
                        </a:rPr>
                        <a:t>Math</a:t>
                      </a:r>
                    </a:p>
                  </a:txBody>
                  <a:tcPr marL="96556" marR="96556" marT="96556" marB="193113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1" y="891652"/>
            <a:ext cx="3309016" cy="30307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Students &amp; Courses - 3NF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2966579"/>
              </p:ext>
            </p:extLst>
          </p:nvPr>
        </p:nvGraphicFramePr>
        <p:xfrm>
          <a:off x="4572000" y="2256052"/>
          <a:ext cx="4206241" cy="2301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306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55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5362">
                <a:tc>
                  <a:txBody>
                    <a:bodyPr/>
                    <a:lstStyle/>
                    <a:p>
                      <a:r>
                        <a:rPr lang="en-GB" sz="2600"/>
                        <a:t>CourseID</a:t>
                      </a:r>
                    </a:p>
                  </a:txBody>
                  <a:tcPr marL="130764" marR="130764" marT="65382" marB="65382"/>
                </a:tc>
                <a:tc>
                  <a:txBody>
                    <a:bodyPr/>
                    <a:lstStyle/>
                    <a:p>
                      <a:r>
                        <a:rPr lang="en-GB" sz="2600"/>
                        <a:t>CourseName</a:t>
                      </a:r>
                    </a:p>
                  </a:txBody>
                  <a:tcPr marL="130764" marR="130764" marT="65382" marB="65382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362">
                <a:tc>
                  <a:txBody>
                    <a:bodyPr/>
                    <a:lstStyle/>
                    <a:p>
                      <a:r>
                        <a:rPr lang="en-GB" sz="2600"/>
                        <a:t>1</a:t>
                      </a:r>
                    </a:p>
                  </a:txBody>
                  <a:tcPr marL="130764" marR="130764" marT="65382" marB="65382"/>
                </a:tc>
                <a:tc>
                  <a:txBody>
                    <a:bodyPr/>
                    <a:lstStyle/>
                    <a:p>
                      <a:r>
                        <a:rPr lang="en-GB" sz="2600"/>
                        <a:t>Math</a:t>
                      </a:r>
                    </a:p>
                  </a:txBody>
                  <a:tcPr marL="130764" marR="130764" marT="65382" marB="65382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362">
                <a:tc>
                  <a:txBody>
                    <a:bodyPr/>
                    <a:lstStyle/>
                    <a:p>
                      <a:r>
                        <a:rPr lang="en-GB" sz="2600"/>
                        <a:t>2</a:t>
                      </a:r>
                    </a:p>
                  </a:txBody>
                  <a:tcPr marL="130764" marR="130764" marT="65382" marB="65382"/>
                </a:tc>
                <a:tc>
                  <a:txBody>
                    <a:bodyPr/>
                    <a:lstStyle/>
                    <a:p>
                      <a:r>
                        <a:rPr lang="en-GB" sz="2600"/>
                        <a:t>Science</a:t>
                      </a:r>
                    </a:p>
                  </a:txBody>
                  <a:tcPr marL="130764" marR="130764" marT="65382" marB="65382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362">
                <a:tc>
                  <a:txBody>
                    <a:bodyPr/>
                    <a:lstStyle/>
                    <a:p>
                      <a:r>
                        <a:rPr lang="en-GB" sz="2600"/>
                        <a:t>3</a:t>
                      </a:r>
                    </a:p>
                  </a:txBody>
                  <a:tcPr marL="130764" marR="130764" marT="65382" marB="65382"/>
                </a:tc>
                <a:tc>
                  <a:txBody>
                    <a:bodyPr/>
                    <a:lstStyle/>
                    <a:p>
                      <a:r>
                        <a:rPr lang="en-GB" sz="2600"/>
                        <a:t>English</a:t>
                      </a:r>
                    </a:p>
                  </a:txBody>
                  <a:tcPr marL="130764" marR="130764" marT="65382" marB="65382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1" y="891652"/>
            <a:ext cx="3309016" cy="30307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Students &amp; Courses - 3NF (Final Link)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3459572"/>
              </p:ext>
            </p:extLst>
          </p:nvPr>
        </p:nvGraphicFramePr>
        <p:xfrm>
          <a:off x="4572000" y="1786472"/>
          <a:ext cx="4206241" cy="324061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144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8122">
                <a:tc>
                  <a:txBody>
                    <a:bodyPr/>
                    <a:lstStyle/>
                    <a:p>
                      <a:r>
                        <a:rPr lang="en-GB" sz="2900"/>
                        <a:t>StudentID</a:t>
                      </a:r>
                    </a:p>
                  </a:txBody>
                  <a:tcPr marL="147300" marR="147300" marT="73650" marB="73650"/>
                </a:tc>
                <a:tc>
                  <a:txBody>
                    <a:bodyPr/>
                    <a:lstStyle/>
                    <a:p>
                      <a:r>
                        <a:rPr lang="en-GB" sz="2900"/>
                        <a:t>CourseID</a:t>
                      </a:r>
                    </a:p>
                  </a:txBody>
                  <a:tcPr marL="147300" marR="147300" marT="73650" marB="736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8122">
                <a:tc>
                  <a:txBody>
                    <a:bodyPr/>
                    <a:lstStyle/>
                    <a:p>
                      <a:r>
                        <a:rPr lang="en-GB" sz="2900"/>
                        <a:t>1</a:t>
                      </a:r>
                    </a:p>
                  </a:txBody>
                  <a:tcPr marL="147300" marR="147300" marT="73650" marB="73650"/>
                </a:tc>
                <a:tc>
                  <a:txBody>
                    <a:bodyPr/>
                    <a:lstStyle/>
                    <a:p>
                      <a:r>
                        <a:rPr lang="en-GB" sz="2900"/>
                        <a:t>1</a:t>
                      </a:r>
                    </a:p>
                  </a:txBody>
                  <a:tcPr marL="147300" marR="147300" marT="73650" marB="736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8122">
                <a:tc>
                  <a:txBody>
                    <a:bodyPr/>
                    <a:lstStyle/>
                    <a:p>
                      <a:r>
                        <a:rPr lang="en-GB" sz="2900"/>
                        <a:t>1</a:t>
                      </a:r>
                    </a:p>
                  </a:txBody>
                  <a:tcPr marL="147300" marR="147300" marT="73650" marB="73650"/>
                </a:tc>
                <a:tc>
                  <a:txBody>
                    <a:bodyPr/>
                    <a:lstStyle/>
                    <a:p>
                      <a:r>
                        <a:rPr lang="en-GB" sz="2900"/>
                        <a:t>2</a:t>
                      </a:r>
                    </a:p>
                  </a:txBody>
                  <a:tcPr marL="147300" marR="147300" marT="73650" marB="736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8122">
                <a:tc>
                  <a:txBody>
                    <a:bodyPr/>
                    <a:lstStyle/>
                    <a:p>
                      <a:r>
                        <a:rPr lang="en-GB" sz="2900"/>
                        <a:t>2</a:t>
                      </a:r>
                    </a:p>
                  </a:txBody>
                  <a:tcPr marL="147300" marR="147300" marT="73650" marB="73650"/>
                </a:tc>
                <a:tc>
                  <a:txBody>
                    <a:bodyPr/>
                    <a:lstStyle/>
                    <a:p>
                      <a:r>
                        <a:rPr lang="en-GB" sz="2900"/>
                        <a:t>3</a:t>
                      </a:r>
                    </a:p>
                  </a:txBody>
                  <a:tcPr marL="147300" marR="147300" marT="73650" marB="7365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8122">
                <a:tc>
                  <a:txBody>
                    <a:bodyPr/>
                    <a:lstStyle/>
                    <a:p>
                      <a:r>
                        <a:rPr lang="en-GB" sz="2900"/>
                        <a:t>2</a:t>
                      </a:r>
                    </a:p>
                  </a:txBody>
                  <a:tcPr marL="147300" marR="147300" marT="73650" marB="73650"/>
                </a:tc>
                <a:tc>
                  <a:txBody>
                    <a:bodyPr/>
                    <a:lstStyle/>
                    <a:p>
                      <a:r>
                        <a:rPr lang="en-GB" sz="2900"/>
                        <a:t>1</a:t>
                      </a:r>
                    </a:p>
                  </a:txBody>
                  <a:tcPr marL="147300" marR="147300" marT="73650" marB="7365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031" y="891652"/>
            <a:ext cx="3309016" cy="30307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Orders - 1NF Example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0062523"/>
              </p:ext>
            </p:extLst>
          </p:nvPr>
        </p:nvGraphicFramePr>
        <p:xfrm>
          <a:off x="4572000" y="2630238"/>
          <a:ext cx="4206241" cy="15530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1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98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52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7692">
                <a:tc>
                  <a:txBody>
                    <a:bodyPr/>
                    <a:lstStyle/>
                    <a:p>
                      <a:r>
                        <a:rPr lang="en-GB" sz="2300"/>
                        <a:t>OrderID</a:t>
                      </a:r>
                    </a:p>
                  </a:txBody>
                  <a:tcPr marL="117657" marR="117657" marT="58829" marB="58829"/>
                </a:tc>
                <a:tc>
                  <a:txBody>
                    <a:bodyPr/>
                    <a:lstStyle/>
                    <a:p>
                      <a:r>
                        <a:rPr lang="en-GB" sz="2300"/>
                        <a:t>Customer</a:t>
                      </a:r>
                    </a:p>
                  </a:txBody>
                  <a:tcPr marL="117657" marR="117657" marT="58829" marB="58829"/>
                </a:tc>
                <a:tc>
                  <a:txBody>
                    <a:bodyPr/>
                    <a:lstStyle/>
                    <a:p>
                      <a:r>
                        <a:rPr lang="en-GB" sz="2300"/>
                        <a:t>Item</a:t>
                      </a:r>
                    </a:p>
                  </a:txBody>
                  <a:tcPr marL="117657" marR="117657" marT="58829" marB="5882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692">
                <a:tc>
                  <a:txBody>
                    <a:bodyPr/>
                    <a:lstStyle/>
                    <a:p>
                      <a:r>
                        <a:rPr lang="en-GB" sz="2300"/>
                        <a:t>1</a:t>
                      </a:r>
                    </a:p>
                  </a:txBody>
                  <a:tcPr marL="117657" marR="117657" marT="58829" marB="58829"/>
                </a:tc>
                <a:tc>
                  <a:txBody>
                    <a:bodyPr/>
                    <a:lstStyle/>
                    <a:p>
                      <a:r>
                        <a:rPr lang="en-GB" sz="2300"/>
                        <a:t>Tom</a:t>
                      </a:r>
                    </a:p>
                  </a:txBody>
                  <a:tcPr marL="117657" marR="117657" marT="58829" marB="58829"/>
                </a:tc>
                <a:tc>
                  <a:txBody>
                    <a:bodyPr/>
                    <a:lstStyle/>
                    <a:p>
                      <a:r>
                        <a:rPr lang="en-GB" sz="2300"/>
                        <a:t>Pen</a:t>
                      </a:r>
                    </a:p>
                  </a:txBody>
                  <a:tcPr marL="117657" marR="117657" marT="58829" marB="5882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692">
                <a:tc>
                  <a:txBody>
                    <a:bodyPr/>
                    <a:lstStyle/>
                    <a:p>
                      <a:r>
                        <a:rPr lang="en-GB" sz="2300"/>
                        <a:t>1</a:t>
                      </a:r>
                    </a:p>
                  </a:txBody>
                  <a:tcPr marL="117657" marR="117657" marT="58829" marB="58829"/>
                </a:tc>
                <a:tc>
                  <a:txBody>
                    <a:bodyPr/>
                    <a:lstStyle/>
                    <a:p>
                      <a:r>
                        <a:rPr lang="en-GB" sz="2300"/>
                        <a:t>Tom</a:t>
                      </a:r>
                    </a:p>
                  </a:txBody>
                  <a:tcPr marL="117657" marR="117657" marT="58829" marB="58829"/>
                </a:tc>
                <a:tc>
                  <a:txBody>
                    <a:bodyPr/>
                    <a:lstStyle/>
                    <a:p>
                      <a:r>
                        <a:rPr lang="en-GB" sz="2300"/>
                        <a:t>Book</a:t>
                      </a:r>
                    </a:p>
                  </a:txBody>
                  <a:tcPr marL="117657" marR="117657" marT="58829" marB="5882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Teachers - 1NF Example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r>
                        <a:t>Teacher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Subject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r>
                        <a:t>Mr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r>
                        <a:t>Mr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Physics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Library - 1NF Example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r>
                        <a:t>Book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Author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r>
                        <a:t>Book1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r>
                        <a:t>Book1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Employees - 1NF Example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r>
                        <a:t>Employee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Skill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r>
                        <a:t>Jane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Python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r>
                        <a:t>Jane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Products - 1NF Example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Supplier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r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r>
                        <a:t>Laptop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Patients - 1NF Example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19200">
                <a:tc>
                  <a:txBody>
                    <a:bodyPr/>
                    <a:lstStyle/>
                    <a:p>
                      <a:r>
                        <a:t>Patient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Medication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r>
                        <a:t>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r>
                        <a:t>Ali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169</Words>
  <Application>Microsoft Office PowerPoint</Application>
  <PresentationFormat>On-screen Show (4:3)</PresentationFormat>
  <Paragraphs>103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Database Normalisation (1NF → 3NF)</vt:lpstr>
      <vt:lpstr>Students &amp; Courses - Denormalised</vt:lpstr>
      <vt:lpstr>Students &amp; Courses - 1NF</vt:lpstr>
      <vt:lpstr>Students &amp; Courses - 2NF</vt:lpstr>
      <vt:lpstr>Students &amp; Courses - 2NF (Link Table)</vt:lpstr>
      <vt:lpstr>Students &amp; Courses - 3NF</vt:lpstr>
      <vt:lpstr>Students &amp; Courses - 3NF (Final Link)</vt:lpstr>
      <vt:lpstr>Orders - 1NF Example</vt:lpstr>
      <vt:lpstr>Teachers - 1NF Example</vt:lpstr>
      <vt:lpstr>Library - 1NF Example</vt:lpstr>
      <vt:lpstr>Employees - 1NF Example</vt:lpstr>
      <vt:lpstr>Products - 1NF Example</vt:lpstr>
      <vt:lpstr>Patients - 1NF Example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Ricardo Rosa</cp:lastModifiedBy>
  <cp:revision>2</cp:revision>
  <dcterms:created xsi:type="dcterms:W3CDTF">2013-01-27T09:14:16Z</dcterms:created>
  <dcterms:modified xsi:type="dcterms:W3CDTF">2026-04-24T08:23:52Z</dcterms:modified>
  <cp:category/>
</cp:coreProperties>
</file>